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5" r:id="rId3"/>
    <p:sldId id="259" r:id="rId4"/>
    <p:sldId id="295" r:id="rId5"/>
    <p:sldId id="287" r:id="rId6"/>
    <p:sldId id="288" r:id="rId7"/>
    <p:sldId id="260" r:id="rId8"/>
    <p:sldId id="299" r:id="rId9"/>
    <p:sldId id="293" r:id="rId10"/>
    <p:sldId id="264" r:id="rId11"/>
    <p:sldId id="286" r:id="rId12"/>
    <p:sldId id="283" r:id="rId13"/>
    <p:sldId id="290" r:id="rId14"/>
    <p:sldId id="266" r:id="rId15"/>
    <p:sldId id="296" r:id="rId16"/>
    <p:sldId id="297" r:id="rId17"/>
    <p:sldId id="298" r:id="rId18"/>
    <p:sldId id="294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55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2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350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0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33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9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1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67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5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51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94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3" descr="Padrão do plano de fundo&#10;&#10;Descrição gerada automaticamente">
            <a:extLst>
              <a:ext uri="{FF2B5EF4-FFF2-40B4-BE49-F238E27FC236}">
                <a16:creationId xmlns:a16="http://schemas.microsoft.com/office/drawing/2014/main" id="{11522696-8CD8-20E5-D340-5A39705AF1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l="9350" r="-1" b="-1"/>
          <a:stretch/>
        </p:blipFill>
        <p:spPr>
          <a:xfrm>
            <a:off x="2878514" y="10"/>
            <a:ext cx="9313486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DA8F1A-5A46-0E0C-E9AC-34CCC0C3E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914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pt-BR" sz="5600" dirty="0">
                <a:latin typeface="Britannic Bold" pitchFamily="34" charset="0"/>
              </a:rPr>
              <a:t>História Econômica Geral</a:t>
            </a:r>
            <a:br>
              <a:rPr lang="pt-BR" sz="5600" dirty="0">
                <a:latin typeface="Britannic Bold" pitchFamily="34" charset="0"/>
              </a:rPr>
            </a:br>
            <a:endParaRPr lang="pt-BR" sz="5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7E3795-BE22-1B95-7D40-70CF4C475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5" y="4876803"/>
            <a:ext cx="5364936" cy="909848"/>
          </a:xfrm>
        </p:spPr>
        <p:txBody>
          <a:bodyPr anchor="t">
            <a:normAutofit/>
          </a:bodyPr>
          <a:lstStyle/>
          <a:p>
            <a:pPr algn="ctr"/>
            <a:r>
              <a:rPr lang="pt-BR" sz="3400" dirty="0">
                <a:latin typeface="Bauhaus 93" panose="04030905020B02020C02" pitchFamily="82" charset="0"/>
              </a:rPr>
              <a:t>A Revolução Comercial</a:t>
            </a:r>
          </a:p>
        </p:txBody>
      </p:sp>
      <p:pic>
        <p:nvPicPr>
          <p:cNvPr id="5" name="Imagem 4" descr="Grupo de pessoas na rua com prédio em cima">
            <a:extLst>
              <a:ext uri="{FF2B5EF4-FFF2-40B4-BE49-F238E27FC236}">
                <a16:creationId xmlns:a16="http://schemas.microsoft.com/office/drawing/2014/main" id="{9C878AAB-C2B0-1332-CFAA-7915AFC633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25673"/>
          <a:stretch/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6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FDF9A-2FAD-4C18-91BD-9EC3FD2F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71315"/>
            <a:ext cx="9601196" cy="1303867"/>
          </a:xfrm>
        </p:spPr>
        <p:txBody>
          <a:bodyPr/>
          <a:lstStyle/>
          <a:p>
            <a:pPr algn="ctr"/>
            <a:r>
              <a:rPr lang="pt-BR" sz="4400" b="1" dirty="0"/>
              <a:t>História Econômica Geral</a:t>
            </a:r>
            <a:endParaRPr lang="pt-BR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1C9B92-3675-476D-B032-7F51EBD1CB61}"/>
              </a:ext>
            </a:extLst>
          </p:cNvPr>
          <p:cNvSpPr txBox="1"/>
          <p:nvPr/>
        </p:nvSpPr>
        <p:spPr>
          <a:xfrm>
            <a:off x="4012050" y="1835212"/>
            <a:ext cx="61158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latin typeface="Monotype Corsiva" panose="03010101010201010101" pitchFamily="66" charset="0"/>
                <a:cs typeface="Mongolian Baiti" panose="03000500000000000000" pitchFamily="66" charset="0"/>
              </a:rPr>
              <a:t>Cronologia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429BE8A-36F1-4352-9E79-98DE71AFA571}"/>
              </a:ext>
            </a:extLst>
          </p:cNvPr>
          <p:cNvCxnSpPr/>
          <p:nvPr/>
        </p:nvCxnSpPr>
        <p:spPr>
          <a:xfrm>
            <a:off x="1762539" y="3429000"/>
            <a:ext cx="79778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44F908-6D37-430C-8924-4962794F959F}"/>
              </a:ext>
            </a:extLst>
          </p:cNvPr>
          <p:cNvSpPr txBox="1"/>
          <p:nvPr/>
        </p:nvSpPr>
        <p:spPr>
          <a:xfrm>
            <a:off x="1295402" y="4497515"/>
            <a:ext cx="17931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/>
              <a:t>Sécs. XI-XIV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85492BF-301A-4FE6-BE10-0C5EFFAFFE5F}"/>
              </a:ext>
            </a:extLst>
          </p:cNvPr>
          <p:cNvSpPr txBox="1"/>
          <p:nvPr/>
        </p:nvSpPr>
        <p:spPr>
          <a:xfrm>
            <a:off x="4764426" y="4500814"/>
            <a:ext cx="21650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/>
              <a:t>Sécs. XVI-XVIII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9DC6B6-F220-4CA4-9762-FF41183138D5}"/>
              </a:ext>
            </a:extLst>
          </p:cNvPr>
          <p:cNvSpPr txBox="1"/>
          <p:nvPr/>
        </p:nvSpPr>
        <p:spPr>
          <a:xfrm>
            <a:off x="8322626" y="4497515"/>
            <a:ext cx="21714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/>
              <a:t>Sécs. XVIII-XIX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3D940EC-07F8-417D-9228-4A7E743F0A1C}"/>
              </a:ext>
            </a:extLst>
          </p:cNvPr>
          <p:cNvCxnSpPr/>
          <p:nvPr/>
        </p:nvCxnSpPr>
        <p:spPr>
          <a:xfrm>
            <a:off x="3489934" y="3124200"/>
            <a:ext cx="0" cy="609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D03CB37-9B6F-4947-8142-E67FA73E39D2}"/>
              </a:ext>
            </a:extLst>
          </p:cNvPr>
          <p:cNvCxnSpPr/>
          <p:nvPr/>
        </p:nvCxnSpPr>
        <p:spPr>
          <a:xfrm>
            <a:off x="7409262" y="3124200"/>
            <a:ext cx="0" cy="609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9808D4-DF21-413E-9371-20740F817BAE}"/>
              </a:ext>
            </a:extLst>
          </p:cNvPr>
          <p:cNvSpPr txBox="1"/>
          <p:nvPr/>
        </p:nvSpPr>
        <p:spPr>
          <a:xfrm>
            <a:off x="1054759" y="3610690"/>
            <a:ext cx="2371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>
                <a:solidFill>
                  <a:srgbClr val="0000FF"/>
                </a:solidFill>
              </a:rPr>
              <a:t>Auge e crise do </a:t>
            </a:r>
          </a:p>
          <a:p>
            <a:r>
              <a:rPr lang="pt-BR" sz="2200" b="1" dirty="0">
                <a:solidFill>
                  <a:srgbClr val="0000FF"/>
                </a:solidFill>
              </a:rPr>
              <a:t>feudalismo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47095BF-AE69-4C83-B8AD-1A8A3B306586}"/>
              </a:ext>
            </a:extLst>
          </p:cNvPr>
          <p:cNvSpPr txBox="1"/>
          <p:nvPr/>
        </p:nvSpPr>
        <p:spPr>
          <a:xfrm>
            <a:off x="3931401" y="3733800"/>
            <a:ext cx="42634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>
                <a:solidFill>
                  <a:srgbClr val="0000FF"/>
                </a:solidFill>
              </a:rPr>
              <a:t>Revolução agrícola, comercial</a:t>
            </a:r>
          </a:p>
          <a:p>
            <a:r>
              <a:rPr lang="pt-BR" sz="2200" b="1" dirty="0">
                <a:solidFill>
                  <a:srgbClr val="0000FF"/>
                </a:solidFill>
              </a:rPr>
              <a:t>e financeira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7500F3E-0EC2-40FB-B144-B5A3430D9102}"/>
              </a:ext>
            </a:extLst>
          </p:cNvPr>
          <p:cNvSpPr txBox="1"/>
          <p:nvPr/>
        </p:nvSpPr>
        <p:spPr>
          <a:xfrm>
            <a:off x="8505783" y="3687633"/>
            <a:ext cx="29816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b="1" dirty="0">
                <a:solidFill>
                  <a:srgbClr val="0000FF"/>
                </a:solidFill>
              </a:rPr>
              <a:t>Revolução Industrial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F9281F5-BD8C-49F8-A988-A56F27224379}"/>
              </a:ext>
            </a:extLst>
          </p:cNvPr>
          <p:cNvSpPr/>
          <p:nvPr/>
        </p:nvSpPr>
        <p:spPr>
          <a:xfrm>
            <a:off x="3803374" y="3124200"/>
            <a:ext cx="3605886" cy="2362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29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09A3A-E901-D32C-16A1-3B305EAF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758952"/>
            <a:ext cx="9693587" cy="2409917"/>
          </a:xfrm>
        </p:spPr>
        <p:txBody>
          <a:bodyPr>
            <a:normAutofit/>
          </a:bodyPr>
          <a:lstStyle/>
          <a:p>
            <a:pPr algn="ctr"/>
            <a:r>
              <a:rPr lang="pt-BR" sz="5000" dirty="0"/>
              <a:t>Mercado e desenvolvimento econômico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22E21E-F8F9-8870-DC06-BBED249D8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033" y="3168869"/>
            <a:ext cx="10119015" cy="2758966"/>
          </a:xfrm>
        </p:spPr>
        <p:txBody>
          <a:bodyPr>
            <a:noAutofit/>
          </a:bodyPr>
          <a:lstStyle/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pt-BR" sz="32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Os limites do mercado interno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2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2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pt-BR" sz="3200" b="1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Expansão comercial e estímulo ao desenvolvimento:</a:t>
            </a:r>
          </a:p>
          <a:p>
            <a:pPr marL="0" indent="0" algn="just">
              <a:buClr>
                <a:srgbClr val="0000FF"/>
              </a:buClr>
              <a:buNone/>
            </a:pPr>
            <a:r>
              <a:rPr lang="pt-BR" sz="3200" b="1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	que tipo de crescimento?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2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649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D437-2424-6974-9CB7-2938445A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6F74D-F138-AA1B-1B42-D157E126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06" y="571915"/>
            <a:ext cx="3831336" cy="4754880"/>
          </a:xfrm>
        </p:spPr>
        <p:txBody>
          <a:bodyPr/>
          <a:lstStyle/>
          <a:p>
            <a:r>
              <a:rPr lang="pt-BR" dirty="0"/>
              <a:t>A Revolução Comercial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6A7AA7-EC39-5C0B-0B06-48BE65462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4397" y="1558847"/>
            <a:ext cx="6571397" cy="5887508"/>
          </a:xfrm>
        </p:spPr>
        <p:txBody>
          <a:bodyPr>
            <a:normAutofit/>
          </a:bodyPr>
          <a:lstStyle/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pt-BR" sz="34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Raiz da globalização?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400" dirty="0">
              <a:solidFill>
                <a:schemeClr val="tx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pt-BR" sz="34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Novos produtos: as especiarias e o consumo de luxo no Ocidente.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400" dirty="0">
              <a:solidFill>
                <a:schemeClr val="tx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pt-BR" sz="34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As companhias de comércio: inovações.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400" dirty="0">
              <a:solidFill>
                <a:schemeClr val="tx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400" dirty="0"/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pt-BR" sz="3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848BDE-9CBE-1128-5679-5DC2829802AA}"/>
              </a:ext>
            </a:extLst>
          </p:cNvPr>
          <p:cNvSpPr txBox="1"/>
          <p:nvPr/>
        </p:nvSpPr>
        <p:spPr>
          <a:xfrm>
            <a:off x="5800299" y="758952"/>
            <a:ext cx="60167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Séc. XVI: o primeiro ciclo da prata</a:t>
            </a:r>
          </a:p>
        </p:txBody>
      </p:sp>
    </p:spTree>
    <p:extLst>
      <p:ext uri="{BB962C8B-B14F-4D97-AF65-F5344CB8AC3E}">
        <p14:creationId xmlns:p14="http://schemas.microsoft.com/office/powerpoint/2010/main" val="341366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09A3A-E901-D32C-16A1-3B305EAF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Revolução Comercial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22E21E-F8F9-8870-DC06-BBED249D8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651" y="2192122"/>
            <a:ext cx="6571397" cy="5887508"/>
          </a:xfrm>
        </p:spPr>
        <p:txBody>
          <a:bodyPr>
            <a:normAutofit/>
          </a:bodyPr>
          <a:lstStyle/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pt-BR" sz="36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Novos produtos: do luxo ao consumo em massa.</a:t>
            </a: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pt-BR" sz="3600" dirty="0">
              <a:solidFill>
                <a:schemeClr val="tx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pt-BR" sz="36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Do comércio à produção de </a:t>
            </a:r>
            <a:r>
              <a:rPr lang="pt-BR" sz="3600" i="1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commodities</a:t>
            </a: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pt-BR" sz="3600" dirty="0"/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pt-BR" sz="3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A692A6-7A63-0F80-12CD-E257D3D725A0}"/>
              </a:ext>
            </a:extLst>
          </p:cNvPr>
          <p:cNvSpPr txBox="1"/>
          <p:nvPr/>
        </p:nvSpPr>
        <p:spPr>
          <a:xfrm>
            <a:off x="5517108" y="934450"/>
            <a:ext cx="60937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pt-BR" sz="30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Séc. XVII: Crise e colonização</a:t>
            </a:r>
          </a:p>
        </p:txBody>
      </p:sp>
    </p:spTree>
    <p:extLst>
      <p:ext uri="{BB962C8B-B14F-4D97-AF65-F5344CB8AC3E}">
        <p14:creationId xmlns:p14="http://schemas.microsoft.com/office/powerpoint/2010/main" val="3585209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30D8A-A8D7-0641-E01B-7478BA52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914" y="663417"/>
            <a:ext cx="8430417" cy="47548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400" dirty="0">
                <a:latin typeface="Baguet Script" panose="00000500000000000000" pitchFamily="2" charset="0"/>
                <a:cs typeface="Sabon Next LT" panose="02000500000000000000" pitchFamily="2" charset="0"/>
              </a:rPr>
              <a:t>A</a:t>
            </a:r>
            <a:r>
              <a:rPr lang="pt-BR" sz="4400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pt-BR" sz="4400" dirty="0">
                <a:latin typeface="Baguet Script" panose="00000500000000000000" pitchFamily="2" charset="0"/>
                <a:cs typeface="Sabon Next LT" panose="02000500000000000000" pitchFamily="2" charset="0"/>
              </a:rPr>
              <a:t>Crise Geral do séc. XVII</a:t>
            </a:r>
          </a:p>
          <a:p>
            <a:pPr algn="just"/>
            <a:endParaRPr lang="pt-BR" sz="4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/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Acirramento das disputas interestatais</a:t>
            </a:r>
          </a:p>
          <a:p>
            <a:pPr algn="just"/>
            <a:endParaRPr lang="pt-BR" sz="4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/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As lutas pelo domínio colonial</a:t>
            </a:r>
          </a:p>
        </p:txBody>
      </p:sp>
    </p:spTree>
    <p:extLst>
      <p:ext uri="{BB962C8B-B14F-4D97-AF65-F5344CB8AC3E}">
        <p14:creationId xmlns:p14="http://schemas.microsoft.com/office/powerpoint/2010/main" val="416261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CF88A-6A21-DA96-91DD-29BFF192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/>
              <a:t>A Revolução Comercial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FDF2CC-FD42-72C3-06FA-B42A6A73F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sz="3000" dirty="0">
                <a:latin typeface="Sabon Next LT" panose="02000500000000000000" pitchFamily="2" charset="0"/>
                <a:cs typeface="Sabon Next LT" panose="02000500000000000000" pitchFamily="2" charset="0"/>
              </a:rPr>
              <a:t>Expansão mercantil e sistema colonial: o capital e o trabalho compulsório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pt-BR" sz="3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Circuitos mercantis conectados: as quatro partes do mundo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pt-BR" sz="3000" dirty="0">
              <a:solidFill>
                <a:schemeClr val="tx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Comércio de escravos, manufaturas e </a:t>
            </a:r>
            <a:r>
              <a:rPr lang="pt-BR" sz="3000" i="1" dirty="0">
                <a:solidFill>
                  <a:schemeClr val="tx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commodities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pt-BR" sz="3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75346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A364-524C-2711-8E2C-B6714CDB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134E0D3-46AB-D801-0AC5-290C7A129539}"/>
              </a:ext>
            </a:extLst>
          </p:cNvPr>
          <p:cNvSpPr txBox="1"/>
          <p:nvPr/>
        </p:nvSpPr>
        <p:spPr>
          <a:xfrm>
            <a:off x="443346" y="166254"/>
            <a:ext cx="11194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Quantidade de escravos trazidos da África para as Américas (1519-1867)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9B0227-D95D-7C06-38D2-EE48388B9A26}"/>
              </a:ext>
            </a:extLst>
          </p:cNvPr>
          <p:cNvSpPr txBox="1"/>
          <p:nvPr/>
        </p:nvSpPr>
        <p:spPr>
          <a:xfrm>
            <a:off x="1378510" y="6322414"/>
            <a:ext cx="8776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FONTE: ELTIS, BEHRENDT, RICHARDSON, 2000, p. 49</a:t>
            </a:r>
          </a:p>
        </p:txBody>
      </p:sp>
      <p:graphicFrame>
        <p:nvGraphicFramePr>
          <p:cNvPr id="11" name="Espaço Reservado para Conteúdo 10">
            <a:extLst>
              <a:ext uri="{FF2B5EF4-FFF2-40B4-BE49-F238E27FC236}">
                <a16:creationId xmlns:a16="http://schemas.microsoft.com/office/drawing/2014/main" id="{4DDE2BBC-C9D2-06F0-71FE-CA74B7311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036980"/>
              </p:ext>
            </p:extLst>
          </p:nvPr>
        </p:nvGraphicFramePr>
        <p:xfrm>
          <a:off x="235532" y="925079"/>
          <a:ext cx="11194470" cy="5310828"/>
        </p:xfrm>
        <a:graphic>
          <a:graphicData uri="http://schemas.openxmlformats.org/drawingml/2006/table">
            <a:tbl>
              <a:tblPr/>
              <a:tblGrid>
                <a:gridCol w="1243830">
                  <a:extLst>
                    <a:ext uri="{9D8B030D-6E8A-4147-A177-3AD203B41FA5}">
                      <a16:colId xmlns:a16="http://schemas.microsoft.com/office/drawing/2014/main" val="1775028168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2860173110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2718549609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3121250562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2507604506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8538909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65517950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1692785804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910370143"/>
                    </a:ext>
                  </a:extLst>
                </a:gridCol>
              </a:tblGrid>
              <a:tr h="221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Período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Port.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Ingl.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Fran.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Hol.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Esp.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EUA/Car.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Din.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Total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596648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1519–1600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264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266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377481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1601–1650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440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504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29663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1651–1675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54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115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65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240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238737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1676–1700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161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243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56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510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56244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1701–1725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378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381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106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66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17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959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10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67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7C796B9-F214-B886-7173-F13D6B3D04AA}"/>
              </a:ext>
            </a:extLst>
          </p:cNvPr>
          <p:cNvSpPr txBox="1"/>
          <p:nvPr/>
        </p:nvSpPr>
        <p:spPr>
          <a:xfrm>
            <a:off x="443346" y="166254"/>
            <a:ext cx="11194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Quantidade de escravos trazidos da África para as Américas (1519-1867)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99B0B7-DDB3-6211-52E7-F43FA1388441}"/>
              </a:ext>
            </a:extLst>
          </p:cNvPr>
          <p:cNvSpPr txBox="1"/>
          <p:nvPr/>
        </p:nvSpPr>
        <p:spPr>
          <a:xfrm>
            <a:off x="1378510" y="6322414"/>
            <a:ext cx="8776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FONTE: ELTIS, BEHRENDT, RICHARDSON, 2000, p. 49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5E51814-C400-DB6B-E07B-4C78B4877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9810682"/>
              </p:ext>
            </p:extLst>
          </p:nvPr>
        </p:nvGraphicFramePr>
        <p:xfrm>
          <a:off x="591994" y="1011586"/>
          <a:ext cx="11194470" cy="5310828"/>
        </p:xfrm>
        <a:graphic>
          <a:graphicData uri="http://schemas.openxmlformats.org/drawingml/2006/table">
            <a:tbl>
              <a:tblPr/>
              <a:tblGrid>
                <a:gridCol w="1243830">
                  <a:extLst>
                    <a:ext uri="{9D8B030D-6E8A-4147-A177-3AD203B41FA5}">
                      <a16:colId xmlns:a16="http://schemas.microsoft.com/office/drawing/2014/main" val="3802099901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3987390104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2259025579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1124588674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3401140806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4076569616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340080125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1507078545"/>
                    </a:ext>
                  </a:extLst>
                </a:gridCol>
                <a:gridCol w="1243830">
                  <a:extLst>
                    <a:ext uri="{9D8B030D-6E8A-4147-A177-3AD203B41FA5}">
                      <a16:colId xmlns:a16="http://schemas.microsoft.com/office/drawing/2014/main" val="966356371"/>
                    </a:ext>
                  </a:extLst>
                </a:gridCol>
              </a:tblGrid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1726–1750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406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491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254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109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8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1311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762947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1751–1775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473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859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322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148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89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1905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7787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1776–1800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626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741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420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41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54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1921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706946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1801–1825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872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257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218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205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81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1645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70027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1826–1850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1248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94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279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1621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252197"/>
                  </a:ext>
                </a:extLst>
              </a:tr>
              <a:tr h="41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1851–1867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154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—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23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0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181</a:t>
                      </a:r>
                    </a:p>
                  </a:txBody>
                  <a:tcPr marL="31697" marR="31697" marT="15849" marB="15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20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5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D027E74-D23B-471B-BFD6-FD675C872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538" y="146951"/>
            <a:ext cx="8826923" cy="6120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6321D9F-60A3-48C1-B1F5-75FA49A4B805}"/>
              </a:ext>
            </a:extLst>
          </p:cNvPr>
          <p:cNvSpPr txBox="1"/>
          <p:nvPr/>
        </p:nvSpPr>
        <p:spPr>
          <a:xfrm>
            <a:off x="3216732" y="6303429"/>
            <a:ext cx="699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O Caribe ou as Antilhas: a “Revolução do Açúcar”</a:t>
            </a:r>
          </a:p>
        </p:txBody>
      </p:sp>
    </p:spTree>
    <p:extLst>
      <p:ext uri="{BB962C8B-B14F-4D97-AF65-F5344CB8AC3E}">
        <p14:creationId xmlns:p14="http://schemas.microsoft.com/office/powerpoint/2010/main" val="422023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Pessoas andando de cavalo na praia&#10;&#10;Descrição gerada automaticamente com confiança média">
            <a:extLst>
              <a:ext uri="{FF2B5EF4-FFF2-40B4-BE49-F238E27FC236}">
                <a16:creationId xmlns:a16="http://schemas.microsoft.com/office/drawing/2014/main" id="{7887C3F1-8B90-7CCE-6B39-B53830B4B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3109ED1-3D22-8D60-CA0B-CC84A848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Colheita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açúcar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no Caribe</a:t>
            </a:r>
          </a:p>
        </p:txBody>
      </p:sp>
    </p:spTree>
    <p:extLst>
      <p:ext uri="{BB962C8B-B14F-4D97-AF65-F5344CB8AC3E}">
        <p14:creationId xmlns:p14="http://schemas.microsoft.com/office/powerpoint/2010/main" val="387867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29A63A5-90C0-33D8-9923-70E060CF1968}"/>
              </a:ext>
            </a:extLst>
          </p:cNvPr>
          <p:cNvSpPr txBox="1"/>
          <p:nvPr/>
        </p:nvSpPr>
        <p:spPr>
          <a:xfrm>
            <a:off x="780225" y="1267657"/>
            <a:ext cx="460353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latin typeface="Garamond" panose="02020404030301010803" pitchFamily="18" charset="0"/>
              </a:rPr>
              <a:t>O </a:t>
            </a:r>
            <a:r>
              <a:rPr lang="en-US" sz="3600" dirty="0" err="1">
                <a:latin typeface="Garamond" panose="02020404030301010803" pitchFamily="18" charset="0"/>
              </a:rPr>
              <a:t>açúcar</a:t>
            </a:r>
            <a:r>
              <a:rPr lang="en-US" sz="3600" dirty="0">
                <a:latin typeface="Garamond" panose="02020404030301010803" pitchFamily="18" charset="0"/>
              </a:rPr>
              <a:t> e as </a:t>
            </a:r>
            <a:r>
              <a:rPr lang="en-US" sz="3600" dirty="0" err="1">
                <a:latin typeface="Garamond" panose="02020404030301010803" pitchFamily="18" charset="0"/>
              </a:rPr>
              <a:t>bebidas</a:t>
            </a:r>
            <a:r>
              <a:rPr lang="en-US" sz="3600" dirty="0">
                <a:latin typeface="Garamond" panose="02020404030301010803" pitchFamily="18" charset="0"/>
              </a:rPr>
              <a:t> “</a:t>
            </a:r>
            <a:r>
              <a:rPr lang="en-US" sz="3600" dirty="0" err="1">
                <a:latin typeface="Garamond" panose="02020404030301010803" pitchFamily="18" charset="0"/>
              </a:rPr>
              <a:t>exóticas</a:t>
            </a:r>
            <a:r>
              <a:rPr lang="en-US" sz="3600" dirty="0">
                <a:latin typeface="Garamond" panose="02020404030301010803" pitchFamily="18" charset="0"/>
              </a:rPr>
              <a:t>”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dirty="0">
              <a:latin typeface="Garamond" panose="020204040303010108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DUFOUR, Philippe S.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600" i="1" dirty="0" err="1">
                <a:latin typeface="Garamond" panose="02020404030301010803" pitchFamily="18" charset="0"/>
              </a:rPr>
              <a:t>Traitez</a:t>
            </a:r>
            <a:r>
              <a:rPr lang="en-US" sz="2600" i="1" dirty="0">
                <a:latin typeface="Garamond" panose="02020404030301010803" pitchFamily="18" charset="0"/>
              </a:rPr>
              <a:t> nouveaux e </a:t>
            </a:r>
            <a:r>
              <a:rPr lang="en-US" sz="2600" i="1" dirty="0" err="1">
                <a:latin typeface="Garamond" panose="02020404030301010803" pitchFamily="18" charset="0"/>
              </a:rPr>
              <a:t>curieux</a:t>
            </a:r>
            <a:r>
              <a:rPr lang="en-US" sz="2600" i="1" dirty="0">
                <a:latin typeface="Garamond" panose="02020404030301010803" pitchFamily="18" charset="0"/>
              </a:rPr>
              <a:t> du café, du </a:t>
            </a:r>
            <a:r>
              <a:rPr lang="en-US" sz="2600" i="1" dirty="0" err="1">
                <a:latin typeface="Garamond" panose="02020404030301010803" pitchFamily="18" charset="0"/>
              </a:rPr>
              <a:t>thé</a:t>
            </a:r>
            <a:r>
              <a:rPr lang="en-US" sz="2600" i="1" dirty="0">
                <a:latin typeface="Garamond" panose="02020404030301010803" pitchFamily="18" charset="0"/>
              </a:rPr>
              <a:t> et du </a:t>
            </a:r>
            <a:r>
              <a:rPr lang="en-US" sz="2600" i="1" dirty="0" err="1">
                <a:latin typeface="Garamond" panose="02020404030301010803" pitchFamily="18" charset="0"/>
              </a:rPr>
              <a:t>chocolat</a:t>
            </a:r>
            <a:r>
              <a:rPr lang="en-US" sz="2600" dirty="0">
                <a:latin typeface="Garamond" panose="02020404030301010803" pitchFamily="18" charset="0"/>
              </a:rPr>
              <a:t> (1685)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9C929D-FF0C-C90F-E465-28B437E77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494" y="189000"/>
            <a:ext cx="4519384" cy="648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4882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1F9C5D6-6C46-2849-FA70-EA0ACDDB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 Revolução Financeira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EDFCCE-9CCD-C09C-2CBA-99C60670A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051" y="775738"/>
            <a:ext cx="10671048" cy="822960"/>
          </a:xfrm>
        </p:spPr>
        <p:txBody>
          <a:bodyPr/>
          <a:lstStyle/>
          <a:p>
            <a:pPr algn="ctr"/>
            <a:r>
              <a:rPr kumimoji="0" lang="pt-BR" sz="4000" b="0" i="0" u="none" strike="noStrike" kern="1200" cap="none" spc="1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Britannic Bold" pitchFamily="34" charset="0"/>
                <a:ea typeface="+mj-ea"/>
                <a:cs typeface="+mj-cs"/>
              </a:rPr>
              <a:t>História Econômica Geral</a:t>
            </a:r>
            <a:endParaRPr lang="pt-BR" i="0" dirty="0"/>
          </a:p>
        </p:txBody>
      </p:sp>
    </p:spTree>
    <p:extLst>
      <p:ext uri="{BB962C8B-B14F-4D97-AF65-F5344CB8AC3E}">
        <p14:creationId xmlns:p14="http://schemas.microsoft.com/office/powerpoint/2010/main" val="311681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CAA51-8712-86AA-62F9-624F6A91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000" dirty="0">
                <a:latin typeface="Britannic Bold" pitchFamily="34" charset="0"/>
              </a:rPr>
              <a:t>História Econômica Geral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30D8A-A8D7-0641-E01B-7478BA52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245352" cy="590986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pt-BR" sz="32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Inovações financeiras</a:t>
            </a:r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:</a:t>
            </a:r>
          </a:p>
          <a:p>
            <a:pPr marL="0" indent="0" algn="ctr">
              <a:buNone/>
            </a:pPr>
            <a:endParaRPr lang="pt-BR" sz="32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Instrumentos financeiros</a:t>
            </a:r>
          </a:p>
          <a:p>
            <a:pPr algn="just"/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As Cias. de Comércio (VOC, WIC, EIC)</a:t>
            </a:r>
          </a:p>
          <a:p>
            <a:pPr algn="just"/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A bolsa de valores (Amsterdã, Londres)</a:t>
            </a:r>
          </a:p>
          <a:p>
            <a:pPr algn="just"/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Bancos Nacionais (Inglaterra)</a:t>
            </a:r>
          </a:p>
          <a:p>
            <a:pPr algn="just"/>
            <a:r>
              <a:rPr lang="pt-BR" sz="3200" dirty="0">
                <a:latin typeface="Sabon Next LT" panose="02000500000000000000" pitchFamily="2" charset="0"/>
                <a:cs typeface="Sabon Next LT" panose="02000500000000000000" pitchFamily="2" charset="0"/>
              </a:rPr>
              <a:t>As primeiras crises financeiras: Sistema de Law; South Sea </a:t>
            </a:r>
            <a:r>
              <a:rPr lang="pt-BR" sz="3200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Company</a:t>
            </a:r>
            <a:endParaRPr lang="pt-BR" sz="32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94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3150-4213-1A86-E6A4-1D919510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556E8A-C453-881F-722A-16A4AEFD2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362606"/>
            <a:ext cx="10893972" cy="5517932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Finanças e escravidão</a:t>
            </a:r>
          </a:p>
          <a:p>
            <a:pPr algn="just"/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O caso de Isaac Newton:</a:t>
            </a:r>
          </a:p>
          <a:p>
            <a:pPr marL="0" indent="0" algn="just">
              <a:buNone/>
            </a:pPr>
            <a:endParaRPr lang="pt-BR" sz="4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marL="0" indent="0" algn="just">
              <a:buNone/>
            </a:pPr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“</a:t>
            </a:r>
            <a:r>
              <a:rPr lang="en-US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Everyone involved with banking and finance in early 18th-century Britain in a sense was somehow connected to the history of slavery and the slave trade to Brazil”</a:t>
            </a:r>
          </a:p>
          <a:p>
            <a:pPr marL="0" indent="0" algn="just">
              <a:buNone/>
            </a:pPr>
            <a:endParaRPr lang="en-US" sz="4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marL="0" indent="0" algn="just">
              <a:buNone/>
            </a:pPr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https://www.theguardian.com/science/2024/nov/24/isaac-newton-wealth-connected-with-slavery-author-says</a:t>
            </a:r>
          </a:p>
        </p:txBody>
      </p:sp>
    </p:spTree>
    <p:extLst>
      <p:ext uri="{BB962C8B-B14F-4D97-AF65-F5344CB8AC3E}">
        <p14:creationId xmlns:p14="http://schemas.microsoft.com/office/powerpoint/2010/main" val="349645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8B15-8C07-0DAC-42AF-69C2F9CD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B28DA4-85F7-6B11-7648-9EA285DB7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362606"/>
            <a:ext cx="10893972" cy="225447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Finanças e escravidão</a:t>
            </a:r>
          </a:p>
          <a:p>
            <a:pPr algn="just"/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O caso de Isaac Newton:</a:t>
            </a:r>
          </a:p>
          <a:p>
            <a:pPr marL="0" indent="0" algn="just">
              <a:buNone/>
            </a:pPr>
            <a:endParaRPr lang="pt-BR" sz="40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743C4F1-182E-97D0-2DDE-834953BA563E}"/>
              </a:ext>
            </a:extLst>
          </p:cNvPr>
          <p:cNvSpPr txBox="1">
            <a:spLocks/>
          </p:cNvSpPr>
          <p:nvPr/>
        </p:nvSpPr>
        <p:spPr>
          <a:xfrm>
            <a:off x="536028" y="2727435"/>
            <a:ext cx="10373710" cy="212834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3200" i="0" dirty="0">
                <a:latin typeface="Sabon Next LT" panose="02000500000000000000" pitchFamily="2" charset="0"/>
                <a:cs typeface="Sabon Next LT" panose="02000500000000000000" pitchFamily="2" charset="0"/>
              </a:rPr>
              <a:t>“Todas as pessoas envolvidas com bancos e finanças na Grã-Bretanha no início do séc. XVIII de alguma forma estavam, de certa forma, conectado à história da escravidão e do comércio de escravos para o Brasil”</a:t>
            </a:r>
          </a:p>
          <a:p>
            <a:pPr algn="just"/>
            <a:r>
              <a:rPr lang="pt-BR" sz="3200" i="0" dirty="0">
                <a:latin typeface="Sabon Next LT" panose="02000500000000000000" pitchFamily="2" charset="0"/>
                <a:cs typeface="Sabon Next LT" panose="02000500000000000000" pitchFamily="2" charset="0"/>
              </a:rPr>
              <a:t>Leonardo Marques (UFF)</a:t>
            </a:r>
            <a:endParaRPr lang="pt-BR" sz="4800" i="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64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6F561B4-DECB-9121-10FF-947708B2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224" y="189000"/>
            <a:ext cx="4183056" cy="648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3874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CAA51-8712-86AA-62F9-624F6A91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0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A Revolução Militar</a:t>
            </a:r>
            <a:r>
              <a:rPr lang="pt-BR" sz="4000" dirty="0">
                <a:latin typeface="Sabon Next LT" panose="02000500000000000000" pitchFamily="2" charset="0"/>
                <a:cs typeface="Sabon Next LT" panose="02000500000000000000" pitchFamily="2" charset="0"/>
              </a:rPr>
              <a:t>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30D8A-A8D7-0641-E01B-7478BA52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7666" y="918996"/>
            <a:ext cx="6640914" cy="163533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sz="3600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pPr marL="0" indent="0" algn="just">
              <a:buNone/>
            </a:pPr>
            <a:r>
              <a:rPr lang="pt-BR" sz="3600" dirty="0">
                <a:latin typeface="Sabon Next LT" panose="02000500000000000000" pitchFamily="2" charset="0"/>
                <a:cs typeface="Sabon Next LT" panose="02000500000000000000" pitchFamily="2" charset="0"/>
              </a:rPr>
              <a:t>Salto na demanda estatal por recursos de curto prazo</a:t>
            </a:r>
          </a:p>
          <a:p>
            <a:pPr marL="0" indent="0" algn="just">
              <a:buNone/>
            </a:pPr>
            <a:endParaRPr lang="pt-BR" sz="36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20BA9E8-AE66-1ED0-CA32-3EAA0604F352}"/>
              </a:ext>
            </a:extLst>
          </p:cNvPr>
          <p:cNvSpPr txBox="1">
            <a:spLocks/>
          </p:cNvSpPr>
          <p:nvPr/>
        </p:nvSpPr>
        <p:spPr>
          <a:xfrm>
            <a:off x="5087666" y="3429000"/>
            <a:ext cx="6640914" cy="2639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Os Estados e a revolução financeira ou como se financiar para a guerra?</a:t>
            </a:r>
            <a:endParaRPr lang="pt-BR" sz="36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3600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03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theme/theme1.xml><?xml version="1.0" encoding="utf-8"?>
<a:theme xmlns:a="http://schemas.openxmlformats.org/drawingml/2006/main" name="HeadlinesVTI">
  <a:themeElements>
    <a:clrScheme name="AnalogousFromLightSeedLeftStep">
      <a:dk1>
        <a:srgbClr val="000000"/>
      </a:dk1>
      <a:lt1>
        <a:srgbClr val="FFFFFF"/>
      </a:lt1>
      <a:dk2>
        <a:srgbClr val="213B38"/>
      </a:dk2>
      <a:lt2>
        <a:srgbClr val="E8E6E2"/>
      </a:lt2>
      <a:accent1>
        <a:srgbClr val="7091EC"/>
      </a:accent1>
      <a:accent2>
        <a:srgbClr val="36AEE5"/>
      </a:accent2>
      <a:accent3>
        <a:srgbClr val="3EB5A9"/>
      </a:accent3>
      <a:accent4>
        <a:srgbClr val="38B976"/>
      </a:accent4>
      <a:accent5>
        <a:srgbClr val="33BC3C"/>
      </a:accent5>
      <a:accent6>
        <a:srgbClr val="69B73F"/>
      </a:accent6>
      <a:hlink>
        <a:srgbClr val="918157"/>
      </a:hlink>
      <a:folHlink>
        <a:srgbClr val="7F7F7F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565</Words>
  <Application>Microsoft Office PowerPoint</Application>
  <PresentationFormat>Widescreen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9" baseType="lpstr">
      <vt:lpstr>Arial</vt:lpstr>
      <vt:lpstr>Avenir Next LT Pro</vt:lpstr>
      <vt:lpstr>Baguet Script</vt:lpstr>
      <vt:lpstr>Bauhaus 93</vt:lpstr>
      <vt:lpstr>Britannic Bold</vt:lpstr>
      <vt:lpstr>Garamond</vt:lpstr>
      <vt:lpstr>Monotype Corsiva</vt:lpstr>
      <vt:lpstr>Sabon Next LT</vt:lpstr>
      <vt:lpstr>Sitka Banner</vt:lpstr>
      <vt:lpstr>Wingdings</vt:lpstr>
      <vt:lpstr>HeadlinesVTI</vt:lpstr>
      <vt:lpstr>História Econômica Geral </vt:lpstr>
      <vt:lpstr>História Econômica Geral</vt:lpstr>
      <vt:lpstr>Mercado e desenvolvimento econômico</vt:lpstr>
      <vt:lpstr>A Revolução Comercial</vt:lpstr>
      <vt:lpstr>A Revolução Comercial</vt:lpstr>
      <vt:lpstr>Apresentação do PowerPoint</vt:lpstr>
      <vt:lpstr>A Revolução Comercial</vt:lpstr>
      <vt:lpstr>Apresentação do PowerPoint</vt:lpstr>
      <vt:lpstr>Apresentação do PowerPoint</vt:lpstr>
      <vt:lpstr>Apresentação do PowerPoint</vt:lpstr>
      <vt:lpstr>Colheita de açúcar no Caribe</vt:lpstr>
      <vt:lpstr>Apresentação do PowerPoint</vt:lpstr>
      <vt:lpstr>A Revolução Financeira</vt:lpstr>
      <vt:lpstr>História Econômica Geral</vt:lpstr>
      <vt:lpstr>Apresentação do PowerPoint</vt:lpstr>
      <vt:lpstr>Apresentação do PowerPoint</vt:lpstr>
      <vt:lpstr>Apresentação do PowerPoint</vt:lpstr>
      <vt:lpstr>A Revolução Militar: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História Econômica Geral </dc:title>
  <dc:creator>Gustavo Acioli</dc:creator>
  <cp:lastModifiedBy>Gustavo Acioli</cp:lastModifiedBy>
  <cp:revision>36</cp:revision>
  <dcterms:created xsi:type="dcterms:W3CDTF">2022-11-23T13:39:06Z</dcterms:created>
  <dcterms:modified xsi:type="dcterms:W3CDTF">2026-03-27T21:01:18Z</dcterms:modified>
</cp:coreProperties>
</file>